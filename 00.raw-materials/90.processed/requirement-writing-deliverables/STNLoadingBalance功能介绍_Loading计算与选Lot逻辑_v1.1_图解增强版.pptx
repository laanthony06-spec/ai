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e84fe6bd524e40" /><Relationship Type="http://schemas.openxmlformats.org/officeDocument/2006/relationships/extended-properties" Target="/docProps/app.xml" Id="Reff854621aa347be" /><Relationship Type="http://schemas.openxmlformats.org/officeDocument/2006/relationships/officeDocument" Target="/ppt/presentation.xml" Id="R331357591b664e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3cb840e6dc4e61"/>
  </p:sldMasterIdLst>
  <p:notesMasterIdLst>
    <p:notesMasterId xmlns:r="http://schemas.openxmlformats.org/officeDocument/2006/relationships" r:id="R965a9b501e434c30"/>
  </p:notesMasterIdLst>
  <p:sldIdLst>
    <p:sldId xmlns:r="http://schemas.openxmlformats.org/officeDocument/2006/relationships" id="256" r:id="R83a9114f27754b26"/>
    <p:sldId xmlns:r="http://schemas.openxmlformats.org/officeDocument/2006/relationships" id="257" r:id="R0292858669ec486d"/>
    <p:sldId xmlns:r="http://schemas.openxmlformats.org/officeDocument/2006/relationships" id="258" r:id="Rcf71f7d00914486e"/>
    <p:sldId xmlns:r="http://schemas.openxmlformats.org/officeDocument/2006/relationships" id="259" r:id="R80f5968e784343e8"/>
    <p:sldId xmlns:r="http://schemas.openxmlformats.org/officeDocument/2006/relationships" id="260" r:id="Rec9c5d26dc104fa6"/>
    <p:sldId xmlns:r="http://schemas.openxmlformats.org/officeDocument/2006/relationships" id="261" r:id="R03b9d119307f4b8d"/>
    <p:sldId xmlns:r="http://schemas.openxmlformats.org/officeDocument/2006/relationships" id="262" r:id="R2288f99e367e40c6"/>
    <p:sldId xmlns:r="http://schemas.openxmlformats.org/officeDocument/2006/relationships" id="263" r:id="R05cf1789d8434da9"/>
    <p:sldId xmlns:r="http://schemas.openxmlformats.org/officeDocument/2006/relationships" id="264" r:id="Ra0841dc1951242e0"/>
    <p:sldId xmlns:r="http://schemas.openxmlformats.org/officeDocument/2006/relationships" id="265" r:id="Rbbcbaf9642d840c0"/>
    <p:sldId xmlns:r="http://schemas.openxmlformats.org/officeDocument/2006/relationships" id="266" r:id="R5ff8a2a9c81b4531"/>
    <p:sldId xmlns:r="http://schemas.openxmlformats.org/officeDocument/2006/relationships" id="267" r:id="Rb82b5fecb91b4e2e"/>
    <p:sldId xmlns:r="http://schemas.openxmlformats.org/officeDocument/2006/relationships" id="268" r:id="R29a6a0249c034328"/>
    <p:sldId xmlns:r="http://schemas.openxmlformats.org/officeDocument/2006/relationships" id="269" r:id="R4aa72cc949004322"/>
    <p:sldId xmlns:r="http://schemas.openxmlformats.org/officeDocument/2006/relationships" id="270" r:id="R3b194318a937404b"/>
    <p:sldId xmlns:r="http://schemas.openxmlformats.org/officeDocument/2006/relationships" id="271" r:id="Rbe86f45849e947e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c26c16e29446fd" /><Relationship Type="http://schemas.openxmlformats.org/officeDocument/2006/relationships/slideMaster" Target="/ppt/slideMasters/slideMaster1.xml" Id="R2c3cb840e6dc4e61" /><Relationship Type="http://schemas.openxmlformats.org/officeDocument/2006/relationships/notesMaster" Target="/ppt/notesMasters/notesMaster1.xml" Id="R965a9b501e434c30" /><Relationship Type="http://schemas.openxmlformats.org/officeDocument/2006/relationships/presProps" Target="/ppt/presProps.xml" Id="Ra7591c34680d49c9" /><Relationship Type="http://schemas.openxmlformats.org/officeDocument/2006/relationships/tableStyles" Target="/ppt/tableStyles.xml" Id="R867cdc1f2596487b" /><Relationship Type="http://schemas.openxmlformats.org/officeDocument/2006/relationships/slide" Target="/ppt/slides/slide1.xml" Id="R83a9114f27754b26" /><Relationship Type="http://schemas.openxmlformats.org/officeDocument/2006/relationships/slide" Target="/ppt/slides/slide2.xml" Id="R0292858669ec486d" /><Relationship Type="http://schemas.openxmlformats.org/officeDocument/2006/relationships/slide" Target="/ppt/slides/slide3.xml" Id="Rcf71f7d00914486e" /><Relationship Type="http://schemas.openxmlformats.org/officeDocument/2006/relationships/slide" Target="/ppt/slides/slide4.xml" Id="R80f5968e784343e8" /><Relationship Type="http://schemas.openxmlformats.org/officeDocument/2006/relationships/slide" Target="/ppt/slides/slide5.xml" Id="Rec9c5d26dc104fa6" /><Relationship Type="http://schemas.openxmlformats.org/officeDocument/2006/relationships/slide" Target="/ppt/slides/slide6.xml" Id="R03b9d119307f4b8d" /><Relationship Type="http://schemas.openxmlformats.org/officeDocument/2006/relationships/slide" Target="/ppt/slides/slide7.xml" Id="R2288f99e367e40c6" /><Relationship Type="http://schemas.openxmlformats.org/officeDocument/2006/relationships/slide" Target="/ppt/slides/slide8.xml" Id="R05cf1789d8434da9" /><Relationship Type="http://schemas.openxmlformats.org/officeDocument/2006/relationships/slide" Target="/ppt/slides/slide9.xml" Id="Ra0841dc1951242e0" /><Relationship Type="http://schemas.openxmlformats.org/officeDocument/2006/relationships/slide" Target="/ppt/slides/slide10.xml" Id="Rbbcbaf9642d840c0" /><Relationship Type="http://schemas.openxmlformats.org/officeDocument/2006/relationships/slide" Target="/ppt/slides/slide11.xml" Id="R5ff8a2a9c81b4531" /><Relationship Type="http://schemas.openxmlformats.org/officeDocument/2006/relationships/slide" Target="/ppt/slides/slide12.xml" Id="Rb82b5fecb91b4e2e" /><Relationship Type="http://schemas.openxmlformats.org/officeDocument/2006/relationships/slide" Target="/ppt/slides/slide13.xml" Id="R29a6a0249c034328" /><Relationship Type="http://schemas.openxmlformats.org/officeDocument/2006/relationships/slide" Target="/ppt/slides/slide14.xml" Id="R4aa72cc949004322" /><Relationship Type="http://schemas.openxmlformats.org/officeDocument/2006/relationships/slide" Target="/ppt/slides/slide15.xml" Id="R3b194318a937404b" /><Relationship Type="http://schemas.openxmlformats.org/officeDocument/2006/relationships/slide" Target="/ppt/slides/slide16.xml" Id="Rbe86f45849e947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a3bbda7b9441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598a790f304ba1" /><Relationship Type="http://schemas.openxmlformats.org/officeDocument/2006/relationships/notesMaster" Target="/ppt/notesMasters/notesMaster1.xml" Id="Rae5dd75a525c4e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23dbcb8f9c4d02" /><Relationship Type="http://schemas.openxmlformats.org/officeDocument/2006/relationships/notesMaster" Target="/ppt/notesMasters/notesMaster1.xml" Id="R505c463428a548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a3e669a439d468d" /><Relationship Type="http://schemas.openxmlformats.org/officeDocument/2006/relationships/notesMaster" Target="/ppt/notesMasters/notesMaster1.xml" Id="Rb79b53e50ae14c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81d5fec9214671" /><Relationship Type="http://schemas.openxmlformats.org/officeDocument/2006/relationships/notesMaster" Target="/ppt/notesMasters/notesMaster1.xml" Id="R6436d8aefbd841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e35fa6fc95426e" /><Relationship Type="http://schemas.openxmlformats.org/officeDocument/2006/relationships/notesMaster" Target="/ppt/notesMasters/notesMaster1.xml" Id="Rbe8e7acc424d40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644237d0cf42e4" /><Relationship Type="http://schemas.openxmlformats.org/officeDocument/2006/relationships/notesMaster" Target="/ppt/notesMasters/notesMaster1.xml" Id="R38a549a4e73141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feece4d83a4db5" /><Relationship Type="http://schemas.openxmlformats.org/officeDocument/2006/relationships/notesMaster" Target="/ppt/notesMasters/notesMaster1.xml" Id="R19cbdcc1c5be4ab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634d46163ba48cf" /><Relationship Type="http://schemas.openxmlformats.org/officeDocument/2006/relationships/notesMaster" Target="/ppt/notesMasters/notesMaster1.xml" Id="Rcf4b4f9b1701431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0a510ac835f40b6" /><Relationship Type="http://schemas.openxmlformats.org/officeDocument/2006/relationships/notesMaster" Target="/ppt/notesMasters/notesMaster1.xml" Id="R01e3de85b84848a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68fd78e495f405c" /><Relationship Type="http://schemas.openxmlformats.org/officeDocument/2006/relationships/notesMaster" Target="/ppt/notesMasters/notesMaster1.xml" Id="R16210ad043d9419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3d7fccbedad47bb" /><Relationship Type="http://schemas.openxmlformats.org/officeDocument/2006/relationships/notesMaster" Target="/ppt/notesMasters/notesMaster1.xml" Id="Rf847bd990c044ca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d4d3339dbc74843" /><Relationship Type="http://schemas.openxmlformats.org/officeDocument/2006/relationships/notesMaster" Target="/ppt/notesMasters/notesMaster1.xml" Id="R6e0973a128ee416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79c09ecd2654bb0" /><Relationship Type="http://schemas.openxmlformats.org/officeDocument/2006/relationships/notesMaster" Target="/ppt/notesMasters/notesMaster1.xml" Id="R16468d8926c64e8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f00390071884c30" /><Relationship Type="http://schemas.openxmlformats.org/officeDocument/2006/relationships/notesMaster" Target="/ppt/notesMasters/notesMaster1.xml" Id="Rc5b3cd1cb6904b3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03a57d7a2b94f47" /><Relationship Type="http://schemas.openxmlformats.org/officeDocument/2006/relationships/notesMaster" Target="/ppt/notesMasters/notesMaster1.xml" Id="Ra9d76417c56e422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423ce7987ae4b21" /><Relationship Type="http://schemas.openxmlformats.org/officeDocument/2006/relationships/notesMaster" Target="/ppt/notesMasters/notesMaster1.xml" Id="R5c902dd68cbe40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61a1898be94c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52921172ad4705" /><Relationship Type="http://schemas.openxmlformats.org/officeDocument/2006/relationships/slideLayout" Target="/ppt/slideLayouts/slideLayout1.xml" Id="Re19892e4fd0c4c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9892e4fd0c4c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2013d85a2b42bb" /><Relationship Type="http://schemas.openxmlformats.org/officeDocument/2006/relationships/notesSlide" Target="/ppt/notesSlides/notesSlide1.xml" Id="R51a9b7c0887240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b048320e60430a" /><Relationship Type="http://schemas.openxmlformats.org/officeDocument/2006/relationships/notesSlide" Target="/ppt/notesSlides/notesSlide2.xml" Id="R474522e3e7f84f0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d733a9f7fe4309" /><Relationship Type="http://schemas.openxmlformats.org/officeDocument/2006/relationships/notesSlide" Target="/ppt/notesSlides/notesSlide3.xml" Id="R6aefe768bb1645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07dbac91b04ffd" /><Relationship Type="http://schemas.openxmlformats.org/officeDocument/2006/relationships/notesSlide" Target="/ppt/notesSlides/notesSlide4.xml" Id="Rdbf2736ec84e41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69a1c26e1492c" /><Relationship Type="http://schemas.openxmlformats.org/officeDocument/2006/relationships/notesSlide" Target="/ppt/notesSlides/notesSlide5.xml" Id="R61e7ed87003545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76677ef83a48b5" /><Relationship Type="http://schemas.openxmlformats.org/officeDocument/2006/relationships/notesSlide" Target="/ppt/notesSlides/notesSlide6.xml" Id="R94af53a627d749b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11624b7dea4fed" /><Relationship Type="http://schemas.openxmlformats.org/officeDocument/2006/relationships/notesSlide" Target="/ppt/notesSlides/notesSlide7.xml" Id="Rcd941225e5fa4c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edc3f281be48d2" /><Relationship Type="http://schemas.openxmlformats.org/officeDocument/2006/relationships/notesSlide" Target="/ppt/notesSlides/notesSlide8.xml" Id="R65e6bdc8f697411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d5105d2bdb4b76" /><Relationship Type="http://schemas.openxmlformats.org/officeDocument/2006/relationships/notesSlide" Target="/ppt/notesSlides/notesSlide9.xml" Id="Rb63b9828e3714c1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2544827f34ec0" /><Relationship Type="http://schemas.openxmlformats.org/officeDocument/2006/relationships/notesSlide" Target="/ppt/notesSlides/notesSlide10.xml" Id="R39d434624f5f499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027c02ef1e4ae1" /><Relationship Type="http://schemas.openxmlformats.org/officeDocument/2006/relationships/notesSlide" Target="/ppt/notesSlides/notesSlide11.xml" Id="R6e199f0f8dd64de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42541658e84a15" /><Relationship Type="http://schemas.openxmlformats.org/officeDocument/2006/relationships/notesSlide" Target="/ppt/notesSlides/notesSlide12.xml" Id="R4cc426555e89498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809d19a20546a0" /><Relationship Type="http://schemas.openxmlformats.org/officeDocument/2006/relationships/notesSlide" Target="/ppt/notesSlides/notesSlide13.xml" Id="R66c4b74105ce4d6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62862171604175" /><Relationship Type="http://schemas.openxmlformats.org/officeDocument/2006/relationships/notesSlide" Target="/ppt/notesSlides/notesSlide14.xml" Id="Rc0581d7439b94a9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6a694db6994ca9" /><Relationship Type="http://schemas.openxmlformats.org/officeDocument/2006/relationships/notesSlide" Target="/ppt/notesSlides/notesSlide15.xml" Id="R138ea59f93854e6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f7459bf6814933" /><Relationship Type="http://schemas.openxmlformats.org/officeDocument/2006/relationships/notesSlide" Target="/ppt/notesSlides/notesSlide16.xml" Id="Rdc49c1774bea4b9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158F62-B387-4C65-A191-71ACF9A3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DSP / RTD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0550CB-7AA7-4D75-8717-EBC81A74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1950"/>
            <a:ext cx="1981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功能介绍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DE8B4C-08EC-4130-86D8-EA28A28A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70A73D-D265-4E57-BAD7-67A692FC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76550"/>
            <a:ext cx="10668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STNLoadingBalance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411DCE-3D07-4268-A17D-D5177591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Loading 计算与 Candidate Lot 选择逻辑（含示例）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CF551F-9193-456C-B80E-84040E42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4000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内部功能说明 · v1.1</a:t>
            </a:r>
          </a:p>
        </p:txBody>
      </p:sp>
    </p:spTree>
    <p:extLst>
      <p:ext uri="{BB962C8B-B14F-4D97-AF65-F5344CB8AC3E}">
        <p14:creationId xmlns:p14="http://schemas.microsoft.com/office/powerpoint/2010/main" val="12292138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81C773-9C81-4CAC-9E4F-0CB78790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STNLoadingBalance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0FB607-EFD1-449D-837A-1A69A19B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104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从机台组平均，细化到每台机台的均衡决策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0FCE9A-0C0E-4B0F-9039-64B205B2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F03A50-5BE0-40DB-B6FF-BEB5353E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569D7C-36E4-4100-830E-D3380F4D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1066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原 LoadingBalance 的计算粒度不足以反映同组机台之间的真实负载差异。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636EA9-3AD7-4829-9787-F4E1B12E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5334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AF6D72-529D-4AB6-9A30-F3F67F13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09800"/>
            <a:ext cx="5715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43F391-ECDB-4849-9B35-EB715534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190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原逻辑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5603B5-8CD6-4359-99C1-DC7A0F6D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4286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SelfCapability 维度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46FC26-9F38-498D-90DE-28D3E117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44767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• 可作业机台取并集
• 组内负载差异被平均
• 难以直接支持机台级 Transfer 判断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5AE4A8-AF2D-4B33-A3BB-98250EFF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33650"/>
            <a:ext cx="3429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STNLoadingBalance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A9CD98-A2DE-4AB0-8AD7-0FF4449A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86100"/>
            <a:ext cx="4762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STN + Timeline 维度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2B036A-CC6E-4196-B4EA-DE62FD8B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33800"/>
            <a:ext cx="47625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• 每台机台单独计算 Loading
• 纳入 WPH、PM 和可作业范围
• 直接识别可接收 Lot 的低 Loading STN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A6AB68-C62E-42F4-B22A-4593BF2E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48300"/>
            <a:ext cx="95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534638-7A34-4101-870D-72C2FC4C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572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核心变化：先算清每台机台的 Loading，再决定哪些 Lot 可以跨厂转移。</a:t>
            </a:r>
          </a:p>
        </p:txBody>
      </p:sp>
    </p:spTree>
    <p:extLst>
      <p:ext uri="{BB962C8B-B14F-4D97-AF65-F5344CB8AC3E}">
        <p14:creationId xmlns:p14="http://schemas.microsoft.com/office/powerpoint/2010/main" val="10943992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896D75-75C4-4E01-9BBA-5B86E6FF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STNLoadingBalance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38A4C0-3165-409C-AD43-6D17921D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104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功能由 Loading 计算和选 Lot 两段逻辑组成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68C2EE-0E3D-4DDC-AA8D-1113C5E0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7CAC52-FC2E-4701-8157-560F4EC8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1386A5-1723-47D2-9EEC-5138A8FD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12420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449D77-EA8A-415F-9B73-4E762BC1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2420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28E46C-216B-4F68-8956-689AB8EC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2420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703847-AD9E-417D-9684-6310850D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2420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83EB4B-7965-4F5F-AF82-859BA2A9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2420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3A0875-5C7A-4592-AB62-7CFC6335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43150"/>
            <a:ext cx="1524000" cy="17907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C70726-3E8E-4EB4-BA1F-8F4495BA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14600"/>
            <a:ext cx="40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2A8C4E-50FB-4C25-AC83-6B2C52A9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14650"/>
            <a:ext cx="11811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准备数据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1A7AC7-4F38-4076-9785-3428E045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90900"/>
            <a:ext cx="11811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5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WIP / 可作业 STN
Timeline / WPH / PM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D48DF7-9711-4148-AB68-C9FF7800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343150"/>
            <a:ext cx="1524000" cy="17907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9892C0-975F-4FAC-99C5-A98C44E2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514600"/>
            <a:ext cx="40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A8EFCA-D41C-4C6A-A432-98D15D3B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914650"/>
            <a:ext cx="11811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888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计算 Loading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D0AF76-DB0E-4D87-84BA-6E9F509A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390900"/>
            <a:ext cx="11811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9591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按 STN + Timeline
执行 WaferBalance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2F4125-435F-4CD1-A5BA-7EE38E4C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343150"/>
            <a:ext cx="1524000" cy="17907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EF8FD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928C27-531D-469E-AA00-38CD974C3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14600"/>
            <a:ext cx="40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BB80CD-E269-4EDE-83A2-457B0998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14650"/>
            <a:ext cx="11811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678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识别低 Loading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66A439-D4FA-459B-95D7-589AC49C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90900"/>
            <a:ext cx="11811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匹配配置并计算
ReceiveLoading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A1488A-401F-4BB0-B85F-4B8AC8DF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43150"/>
            <a:ext cx="1524000" cy="17907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EF8FD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562B70-ED27-46BD-BB72-0D6564DD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14600"/>
            <a:ext cx="40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CA7225-AF97-4225-AB71-B5DD6B21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14650"/>
            <a:ext cx="11811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6261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准备 Candidate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278C12-E90D-4D44-8F83-2DFD5C1E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90900"/>
            <a:ext cx="11811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Transfer / TargetFab
Available STN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C5B2EB-18FC-436A-B3C6-DFF28D85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43150"/>
            <a:ext cx="1524000" cy="17907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EF8FD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4FEACE-9DEF-44A1-A86E-FB39BAC9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14600"/>
            <a:ext cx="40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F0E252-9374-4C9B-A9CE-5ABDCEBB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14650"/>
            <a:ext cx="11811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模拟并更新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32FF2B-4FC4-4E25-8B7E-E243FD96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90900"/>
            <a:ext cx="11811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一次选一个 Lot
更新后再循环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7C994E-69E9-496D-B6AF-13AB2EAA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343150"/>
            <a:ext cx="1524000" cy="17907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EF8FD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A1D3EB-F782-47AD-9D1B-0B142FED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14600"/>
            <a:ext cx="40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F30B10-F78C-470E-87A5-2EC4C29D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14650"/>
            <a:ext cx="11811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输出结果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2BF66D-2C64-40E1-94CA-B6FD9686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390900"/>
            <a:ext cx="11811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OQT 无风险后
生成 Transfer 结果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E03257-E0EE-4DC8-9961-9AB718C9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86300"/>
            <a:ext cx="3390900" cy="7048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7E9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4137BB-9BAA-40C4-B0B8-40A511E6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7680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4742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Part 1  EqpLoadingSummary / EqpLotSummary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E446CE-EF5F-4913-94E6-7BB58935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86300"/>
            <a:ext cx="7791450" cy="7048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DF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DC0D04-469B-48B5-9B51-4C04041D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876800"/>
            <a:ext cx="7429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Part 2  LoadingCandidateLot：低 Loading 判断 → 选 Lot → 模拟更新 → 输出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A1FE51-40C2-4C6D-BFA0-E0D4CFE9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8763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Loading 结果不是终点，而是 Candidate Lot 决策的输入。</a:t>
            </a:r>
          </a:p>
        </p:txBody>
      </p:sp>
    </p:spTree>
    <p:extLst>
      <p:ext uri="{BB962C8B-B14F-4D97-AF65-F5344CB8AC3E}">
        <p14:creationId xmlns:p14="http://schemas.microsoft.com/office/powerpoint/2010/main" val="7312947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5D5D45-4D86-49F5-8217-19F1FA0F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STNLoadingBalance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1395A5-74BD-43EF-8D1E-2B014D42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104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Loading 的准确度取决于五类基础数据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37C00E-24CD-4979-8515-C35A513B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36FEEA-8E68-49B1-B935-310424E1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93EB31-F0CB-4EC8-B142-B8657523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4762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Lot × STN × Timeline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CA79CC-4508-4C36-B6F3-5E19983B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47625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计算对象不是单一 Lot 或单一机台，而是 Lot 在每个可作业 STN、每个 Timeline 层级上的作业时间分配。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31FA21-B023-4F25-A297-82AF8F19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67200"/>
            <a:ext cx="47625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24579D-1E09-4944-B7C5-81BE1DBC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33900"/>
            <a:ext cx="4267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Step WIP 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77434F-7244-49F4-BADE-4AE56394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4267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= PiecesPreStation / WPH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614E13-790D-47D3-8307-B67D4353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4267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WPH 使用 WPHLoss 修正结果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E66D67-DD51-40F8-9C94-F0159C9C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57350"/>
            <a:ext cx="5981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CE1787-ECB7-401E-AB99-8C586F64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19275"/>
            <a:ext cx="457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C6C906-C5AE-4E64-B1F9-2FB0BFD3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81175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WIP 范围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AB1F6F-C74F-4566-92CF-F9DECEBC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3219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FAB6 / FAB8 Lot、Important Lot 标识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422072-D540-4054-8D71-A84993DE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95550"/>
            <a:ext cx="5981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0DC631-61AE-4B77-94E2-94C3E508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57475"/>
            <a:ext cx="457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7102AB-B515-44E2-BE45-FAFF8306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19375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可作业 STN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4B5B66-C8E9-441D-AE1C-36A4E84F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47950"/>
            <a:ext cx="3219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LCC / PCC / MCC / T2T / DOMA / MES 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08E17D-1062-4225-9EBE-B915612A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33750"/>
            <a:ext cx="5981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9FE503-5EF9-494F-8F99-71D84A44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95675"/>
            <a:ext cx="457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E92E6D-DA86-4430-8E95-FBABD853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57575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Timeline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49D25F-79EF-4F46-B649-49520D8F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86150"/>
            <a:ext cx="3219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Lot 到站时间层级，当前为 0 / 2 / 6 / 12 / 24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7D7359-2133-416C-A641-E4A311CA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71950"/>
            <a:ext cx="5981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09D5D3-8C0A-4D24-AE5F-1EB5B6E3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33875"/>
            <a:ext cx="457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A91942-5328-4C39-83D3-D7BC2D84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95775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WPH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7A1586-BFA7-4C9C-A626-68C6442F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24350"/>
            <a:ext cx="3219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按 capability / recipe / product 优先级获取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7CE00B-4F17-4A41-AC54-3E9AFA96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010150"/>
            <a:ext cx="5981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2A30DD-42A1-4B76-9E97-646B1DC8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72075"/>
            <a:ext cx="457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058076-26DA-4700-BE7A-767E083E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133975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PM_RemainTime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421662-277A-4DFF-BF7B-C5CCEE63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162550"/>
            <a:ext cx="3219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Lot 到站前，机台因 PM / 借机不可作业的时长</a:t>
            </a:r>
          </a:p>
        </p:txBody>
      </p:sp>
    </p:spTree>
    <p:extLst>
      <p:ext uri="{BB962C8B-B14F-4D97-AF65-F5344CB8AC3E}">
        <p14:creationId xmlns:p14="http://schemas.microsoft.com/office/powerpoint/2010/main" val="6391771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3D6E8E-DE80-41D5-8A9A-324DC873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STNLoadingBalance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289224-1F21-420E-A275-D42720F3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104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5734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Loading 按 Timeline 分层累加，后一层继承前一层结果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2A763B-43EF-474B-8474-B9EDD4D5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7B9E6A-4645-439A-93BE-B33119A0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A711D1-2D33-47D6-9C21-7AB0C388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914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8DCBE8-FFDA-42C3-AB32-8A7E8551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1563D2-6ECC-4077-A367-DEB79BEE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914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D40BB9-EF35-4B75-BC40-C33ECD08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371850"/>
            <a:ext cx="1447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当前站点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FB171F-2F86-42A4-9D54-ABDE46D4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33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562E00-380E-438F-8F38-6D5223EE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81250"/>
            <a:ext cx="914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081F7E-004B-4007-948C-28860686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371850"/>
            <a:ext cx="1447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2 小时内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374D2B-8B0B-4552-B361-9D23E5E4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33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47DFCF-284D-4F5A-9B11-37AB6C2A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81250"/>
            <a:ext cx="914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7BD1A9-4FDE-495C-8B4F-DEEEECF7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371850"/>
            <a:ext cx="1447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6 小时内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D50B19-4D62-4A5E-B605-70C86F39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33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0EBFB6-67E1-4941-BAB7-9E9835FF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81250"/>
            <a:ext cx="914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12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56F352-3657-4E1B-B761-585A218A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71850"/>
            <a:ext cx="1447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12 小时内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EBAF32-30A5-4D94-9FED-4543B408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33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CD63A0-185F-4F0D-B524-D761D330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81250"/>
            <a:ext cx="914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24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25F1E6-F84A-47A6-9D20-3E91D49D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371850"/>
            <a:ext cx="1447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24 小时内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DFCE9F-33D0-47A8-9EDA-3A760F06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34290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1B4549-9BCF-474A-879B-968DEA3E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43400"/>
            <a:ext cx="1333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层级范围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A75EBA-1B74-493A-AD5A-8445DCA4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0"/>
            <a:ext cx="2857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当前层级纳入 Timeline 小于等于该值的 Lot。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21536E-FEE3-4A0F-9377-59729BFD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95750"/>
            <a:ext cx="34290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5068BE-460F-41C2-9E9B-A69EE16C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343400"/>
            <a:ext cx="1333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继承规则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24485F-E595-45EA-A92A-177A2152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62500"/>
            <a:ext cx="2857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上一层机台累计作业时间，作为下一层初始化时间。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D6AAEB-FF51-45AB-A075-8CFB00B4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95750"/>
            <a:ext cx="34290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86A217-7462-454E-9770-55427250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43400"/>
            <a:ext cx="1333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可扩展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43058C-29DB-4B59-A216-885B67C2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762500"/>
            <a:ext cx="2857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层级由配置驱动，后续新增层级时按相同逻辑扩展。</a:t>
            </a:r>
          </a:p>
        </p:txBody>
      </p:sp>
    </p:spTree>
    <p:extLst>
      <p:ext uri="{BB962C8B-B14F-4D97-AF65-F5344CB8AC3E}">
        <p14:creationId xmlns:p14="http://schemas.microsoft.com/office/powerpoint/2010/main" val="6180570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FFA080-BB3D-4415-8861-F43764D2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STNLoadingBalance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B6E2FC-1DB1-4298-8D9D-791817AF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104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1484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WaferBalance 用五次迭代把 Lot 片数分配到更合适的机台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A116AE-7117-47B4-B5BE-2DFCF2C4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10EA56-2848-426E-A67D-69E5BECF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2547F6-C244-4793-AD26-1E866B6E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724150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A35FDB-39E2-4279-A1E4-2B9CBE34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24150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38F3BC-A905-4E25-900D-D73AA7DB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24150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AA3C00-FB0B-44DA-8F87-C98C8D46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24150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DD69AF-9673-4E9F-A633-775EA36B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1847850" cy="20002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DFEEEE-0AE3-4F9D-B00D-9D4922AF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9800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B64C56-0F05-472A-81AB-20489912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09850"/>
            <a:ext cx="1504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按 WPH 分配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6BF997-A5DD-46CF-9E64-0EB52EE3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15049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第一次按机台 WPH 比例分配 Lot 片数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7522C4-5C53-4253-AE20-0D9A4B7C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38350"/>
            <a:ext cx="1847850" cy="20002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9DB42A-A82A-47D1-8EFE-279FEFF4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209800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0CBCED-C00B-4CA5-BCE4-C2EFE2F9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09850"/>
            <a:ext cx="1504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换算作业时间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673188-A974-4B22-87E7-8F4DC770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43250"/>
            <a:ext cx="15049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Step WIP Time
= Qty Assign / WPH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775ED5-E510-4A1F-8FA8-B6991640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38350"/>
            <a:ext cx="1847850" cy="20002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F96198-77C4-490D-85F9-3016A820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09800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FBF221-E51F-42C1-BD33-89B3D5EC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609850"/>
            <a:ext cx="1504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累计机台时间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2D256D-32A9-481F-B093-AA44D7F5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43250"/>
            <a:ext cx="15049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加入 Pre EQP WIP Time 与 PM_RemainTime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D95D05-9C7C-46ED-9C2A-8AEE80368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038350"/>
            <a:ext cx="1847850" cy="20002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556D45-7167-40E5-A589-5DCDDCF6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209800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BDCA04-4A43-4728-9A73-E933BA58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09850"/>
            <a:ext cx="1504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更新权重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EC6948-0712-4AE0-8311-830CC2A8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43250"/>
            <a:ext cx="15049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313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Weight(n)
= Weight(n-1) / New EQP WIP Time(n)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4A3596-7FA5-49AD-B29C-99A5DBA6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38350"/>
            <a:ext cx="1847850" cy="20002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728A1A-67BE-47E8-8300-AEFB8948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209800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01AD3D-BA16-4CF7-8EDA-76AB477C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609850"/>
            <a:ext cx="1504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重新分配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05F120-2917-4436-9CA7-923BA706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143250"/>
            <a:ext cx="15049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全部 Timeline 层级算完后进入下一次 Balance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54CCB7-2A6A-4C86-A71D-6ECBF637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7239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6A1C4D-291E-4A87-BC2D-BE22C70F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24400"/>
            <a:ext cx="2190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New EQP WIP Time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42998D-05CF-47BE-9C97-9B8CF03A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24450"/>
            <a:ext cx="666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= Step WIP Time + Pre EQP WIP Time + PM_RemainTime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68E901-8EBD-4C48-846E-5691048D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14850"/>
            <a:ext cx="3810000" cy="11049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D9755D-A27A-475C-990D-9FB72AEA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43450"/>
            <a:ext cx="3276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共 Balance 5 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C984A8-93A8-42B6-9755-4EA93D71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181600"/>
            <a:ext cx="3276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每轮都使用上一轮权重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DB2DF6-7ACE-4A5B-AB67-E721EDE7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24550"/>
            <a:ext cx="8001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关键口径：第一次不是平均分片，而是按 WPH 比例分片。</a:t>
            </a:r>
          </a:p>
        </p:txBody>
      </p:sp>
    </p:spTree>
    <p:extLst>
      <p:ext uri="{BB962C8B-B14F-4D97-AF65-F5344CB8AC3E}">
        <p14:creationId xmlns:p14="http://schemas.microsoft.com/office/powerpoint/2010/main" val="13640188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249EB8-B074-4950-9677-3484F27A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STNLoadingBalance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F84A37-9A96-44D7-88F0-D142F4FC7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104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同一套 WaferBalance 形成四类 Loading 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D87798-0364-4116-99CD-679362BC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9DA7D8-7E12-471F-A0CA-56EE6ED3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6D44D9-B68C-423F-B292-95D8CBC3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009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差异只在 Lot 范围与可作业机台范围，计算方法保持一致。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728C4F-F785-4BE3-AE4E-3198C237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62150"/>
            <a:ext cx="2667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单厂机台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1B8AAC-2BFA-4F6E-A673-8554CA0B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62150"/>
            <a:ext cx="2857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FAB6 + FAB8 平均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0F3FDA-49C7-413F-946E-F110A8C0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33700"/>
            <a:ext cx="2095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全部 WIP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B5DE44-9C6C-43D5-A3F9-019E32B8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2095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Priority WIP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4174A6-D44B-4FE0-AE93-0A776CE8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33650"/>
            <a:ext cx="4095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E44C1D-4EFD-4B54-92A2-E4302754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33650"/>
            <a:ext cx="4667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56729A-61B2-47D4-9602-A06B9598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362450"/>
            <a:ext cx="4095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07D06C-5378-4C8A-89EA-B35F4AAD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62450"/>
            <a:ext cx="4667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487B6C-72B4-4C52-8C02-2D45B83E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19400"/>
            <a:ext cx="3486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WIPLoading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C235BE-D8BD-4075-8CE1-B73D5E8D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71850"/>
            <a:ext cx="3486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各厂自身 Lot × 本厂可作业机台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13EB51-A53C-4E4A-A3B0-7BB29D13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19400"/>
            <a:ext cx="4057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WIPLoading_Avg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395966-6BA7-4F05-87EF-6A7BEF6B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71850"/>
            <a:ext cx="4057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两厂 Lot × 两厂可作业机台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414563-599F-4F21-BBA8-D1583877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648200"/>
            <a:ext cx="3486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PriorWIPLoading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D6C61A-FA4D-4F92-9CA9-A7048614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200650"/>
            <a:ext cx="3486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仅 isprioritylot = T，按单厂计算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360261-4F71-4CB3-8404-9DFE09E1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48200"/>
            <a:ext cx="4057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PriorWIPLoading_Avg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3A238E-BB09-4B59-97DE-67B4C8AD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200650"/>
            <a:ext cx="4057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两厂 Priority Lot × 两厂可作业机台</a:t>
            </a:r>
          </a:p>
        </p:txBody>
      </p:sp>
    </p:spTree>
    <p:extLst>
      <p:ext uri="{BB962C8B-B14F-4D97-AF65-F5344CB8AC3E}">
        <p14:creationId xmlns:p14="http://schemas.microsoft.com/office/powerpoint/2010/main" val="7778712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000539-8F85-438D-9D25-D09F9C8B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STNLoadingBalance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08B477-AB92-406C-9FA1-B9B52F26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104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先匹配配置，再判断 STN 是否低于水位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48BB50-A8A6-40E7-93D9-B90DBDFC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8FDC83-7F0B-407E-A9CE-FD4DAFE7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DB5CC4-EF0D-4365-8B6B-50FF2D6F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43200"/>
            <a:ext cx="26670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E317F6-F3E3-4EE4-B07F-58BC37E1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848100"/>
            <a:ext cx="26670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482F6C-3CE6-4F72-9A23-D188F907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5143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ADCDA1-D719-4334-B7F2-B0084E29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C820C3-2A20-4C82-8BB7-EDD67D7E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43100"/>
            <a:ext cx="3905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匹配 SelfCapabilityGroup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28E3F6-E430-46B5-A93E-45F95A1D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05050"/>
            <a:ext cx="3905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10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STN + Timeline 先找满足 Timeline ≤ QTLimit 的配置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E22E8D-C21F-4142-A87A-A22BAE81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5143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C7BE4E-2431-44BA-BA59-B53478E9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BEFFE1-61C4-4343-B1BB-A1FB16E5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3905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收敛到一笔配置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9CFE5C-254F-4BFE-A825-236047BF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09950"/>
            <a:ext cx="3905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同组多笔配置取 QTLimit 最小；多 Group 分别保留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CDE1FE-7807-46A1-A215-7EE96EF2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19550"/>
            <a:ext cx="5143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AC0430-A371-4C81-83B1-998BF219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70FF38-7ABF-42AC-B404-3B4D9356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52900"/>
            <a:ext cx="3905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选择判断口径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082FC1-1EC0-4465-BEB8-4898C55C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14850"/>
            <a:ext cx="3905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48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Normal 使用 WIPLoading；Important 使用 PriorWIPLoading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FD9155-8835-463A-BF89-8FE8F289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Normal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8BDD86-A110-4C5A-9036-D3297CA0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66950"/>
            <a:ext cx="56959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EEF7B3-2714-4EAD-ADF4-F75CBC917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57450"/>
            <a:ext cx="1504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LoadingGap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7115E8-7567-4F04-9E3A-5247A0F6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38450"/>
            <a:ext cx="5048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0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WIPLoading ≤ MAX(0, WIPLoading_Avg − LoadingGap)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DF0C76-C4BF-41CB-BCDD-90A5F92D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24250"/>
            <a:ext cx="56959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5579CC-7F1C-4359-897F-CC39E849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95700"/>
            <a:ext cx="1752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FAB_LoadingSpec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4AE755-FE53-44AE-B029-5063678C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10025"/>
            <a:ext cx="5048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WIPLoading ≤ FAB_LoadingSpec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426DCF-361D-4406-ABE4-B50DEA4E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0535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Important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E193FE-7C55-49A5-99BE-6D0245A2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43500"/>
            <a:ext cx="56959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951753-2438-4D12-A1D8-5FE5A612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353050"/>
            <a:ext cx="5048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将 WIPLoading / WIPLoading_Avg 替换为 PriorWIPLoading / PriorWIPLoading_Avg</a:t>
            </a:r>
          </a:p>
        </p:txBody>
      </p:sp>
    </p:spTree>
    <p:extLst>
      <p:ext uri="{BB962C8B-B14F-4D97-AF65-F5344CB8AC3E}">
        <p14:creationId xmlns:p14="http://schemas.microsoft.com/office/powerpoint/2010/main" val="16217692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A0549C-FE4B-48B9-ADDE-D4F616A7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STNLoadingBalance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455FB2-150D-4EEA-A901-FC19D8BE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104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水位用于判断，接收量用于后续选 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5C6544-BF1D-44FB-9909-CC9C3FBC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D59333-5388-4BA1-B1A5-FA4B8BAB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1CF80B-3D97-45E3-80CD-D1F2A5C9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066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低 Loading 判断回答“是否需要接收”，T_BUFFER 回答“还能接收多少”。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76BCBA-2B10-4423-A31A-D54E2C6F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5334000" cy="2876550"/>
          </a:xfrm>
          <a:prstGeom xmlns:a="http://schemas.openxmlformats.org/drawingml/2006/main" prst="roundRect">
            <a:avLst>
              <a:gd name="adj" fmla="val 397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292D23-0797-4390-9D2A-8B341BEC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09800"/>
            <a:ext cx="5715000" cy="2876550"/>
          </a:xfrm>
          <a:prstGeom xmlns:a="http://schemas.openxmlformats.org/drawingml/2006/main" prst="roundRect">
            <a:avLst>
              <a:gd name="adj" fmla="val 3974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606356-EAB2-4A7E-B55D-99915D14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4286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LoadingGap 场景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306565-977D-4D7E-BC6A-E2E828FC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1524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判断水位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6DC39A-4EDF-4F5E-A98C-107F8E56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4572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WIPLoading_Avg − LoadingGap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6BFAEA-9667-4427-9ED1-82BFB47B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1905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接收量 T_BUFFER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9BFDE0-4BE5-4389-944B-CDEF26DA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9600"/>
            <a:ext cx="4572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WIPLoading_Avg − WIPLoading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8E2B95-1DE8-471B-A51F-49FAF157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33650"/>
            <a:ext cx="4762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FAB_LoadingSpec 场景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AF886C-9572-4F66-A73A-3A009ACE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62300"/>
            <a:ext cx="1524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判断水位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A5FB19-37A7-4386-891F-6201BD97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24250"/>
            <a:ext cx="4572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FAB_LoadingSpec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8FC4D1-98BE-4A28-B107-4D3C8264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57650"/>
            <a:ext cx="1905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接收量 T_BUFFER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2D3BE3-3751-4C16-9C79-8AEF455F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19600"/>
            <a:ext cx="476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FAB_LoadingSpec − WIPLoading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042ABA-EE96-48ED-9471-C1F8DE0E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05450"/>
            <a:ext cx="95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6E7D93-03F1-40A8-AAE0-AF6DDCD5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10572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Priority 场景使用 PriorWIPLoading 与 PriorWIPLoading_Avg，输出 T_BUFFER_Pri。</a:t>
            </a:r>
          </a:p>
        </p:txBody>
      </p:sp>
    </p:spTree>
    <p:extLst>
      <p:ext uri="{BB962C8B-B14F-4D97-AF65-F5344CB8AC3E}">
        <p14:creationId xmlns:p14="http://schemas.microsoft.com/office/powerpoint/2010/main" val="2263811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E888FA-6062-4549-95F6-5799378E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STNLoadingBalance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6046EA-1625-49B9-BDB8-D8BED9AB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104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Candidate Lot 池与 STN + Timeline 处理顺序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59BA71-39AB-4238-B486-06985F94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084260-449A-4631-88EB-0C849E30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53A68B-4992-4A53-A177-B7D1EEC5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4762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Candidate Lot 基础条件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A63E36-60CB-487E-B06A-CB69BBE1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7350"/>
            <a:ext cx="55054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第一重循环：低 Loading STN 的处理顺序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51D2EC-7E5C-4682-980D-61FCA3F9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6697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58C528-D73C-431D-B595-144AAEB3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466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IsTransferCandidate = TRUE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09BFBD-B903-4B14-B713-F1051FAC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7657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A92FEE-168B-44B3-A0CD-371DA6B9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466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满足 TargetFabCondition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096712-2E9E-4A66-AAFF-F418BB29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8617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4F8D74-50B6-45E9-B112-AF3E0D8C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05200"/>
            <a:ext cx="466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对厂可作业 STN 包含当前 STN_checking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B2B1A6-0520-44BA-BD0E-849C08FA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9577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621CF7-B7A3-4FFA-A3DC-DE38E1EC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466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!IsToDispatch 且 IsCandidateChecked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B144B4-71C5-4DA0-AE09-5AF62C6E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0537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8E3FC9-9B57-4B53-8859-7508F7DC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466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Timeline ≤ Timeline_checking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EDAC4B-67AC-4078-A1EF-3AE165D2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24100"/>
            <a:ext cx="55054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EB81E4-A62A-404E-AD64-29B0B401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33650"/>
            <a:ext cx="495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1  MIN(Timeline)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548183-D088-43DF-886A-DD4563FA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86100"/>
            <a:ext cx="38100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4DF202-6420-4A29-A814-77DB24F1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90900"/>
            <a:ext cx="55054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E46E0F-C82F-4092-9693-EC022B05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00450"/>
            <a:ext cx="495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2  MAX(T_BUFFER_Pri)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7EA2DE-913A-4A09-9FD4-82699ED8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52900"/>
            <a:ext cx="38100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A9DB47-53F7-4E79-8FB9-33775330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57700"/>
            <a:ext cx="55054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DA1971-90BE-40D2-A9D9-1A6E74D3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67250"/>
            <a:ext cx="495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3  MAX(T_BUFFER)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3249F2-FC47-481E-B588-80FA3FED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581650"/>
            <a:ext cx="5505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优先处理更近的 Timeline；同层先补 Priority，再补 Normal。</a:t>
            </a:r>
          </a:p>
        </p:txBody>
      </p:sp>
    </p:spTree>
    <p:extLst>
      <p:ext uri="{BB962C8B-B14F-4D97-AF65-F5344CB8AC3E}">
        <p14:creationId xmlns:p14="http://schemas.microsoft.com/office/powerpoint/2010/main" val="15837453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A4F443-BAE8-415F-BB90-0B8C1E8D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STNLoadingBalance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6768E4-274F-4005-9071-532407B7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104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每个 STN + Timeline 一次只选一个 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D24CF0-000D-4D00-90AE-A0AA102D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1DC4A8-EDB4-4023-9A2F-E8DB3017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53B488-DB2F-4DA0-A86A-47817239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0287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选中后立即模拟计算并更新 Loading，再进入下一轮。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2E5592-8D01-4B07-9EEB-B907D3FA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28950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2171CD-1C3F-41B8-96E8-80E8423C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028950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FE21D1-CF82-4A8C-AD12-8560ABE6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28950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2C21C3-6324-4315-A227-0A60A852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3431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E60BAC-0E41-47CE-A6BA-3E6D67AC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5745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3ED022-716E-4797-A8F6-44C09736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76550"/>
            <a:ext cx="19621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Timeline 更接近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1C79B6-98D3-43E5-B846-8CD5E360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24250"/>
            <a:ext cx="19621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MIN(Timeline_checking − Timeline)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BE1B6E-27E9-4160-A93D-E502E7CC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266950"/>
            <a:ext cx="23431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C7570C-5978-438B-8398-C4122763E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5745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AAFD49-D68F-4B61-A5F0-5F1FE3EC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76550"/>
            <a:ext cx="19621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可选 STN 更少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B5E389-0641-41F3-AEEC-D7FC6D88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524250"/>
            <a:ext cx="19621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MIN(ReceiveSTNCnt)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9EE484-4CB6-43B7-A80B-0FFC8714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66950"/>
            <a:ext cx="23431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D6E01C-4772-45D1-A2B6-04B0F374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5745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5181C9-5F00-429E-93B1-9D4BB75F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76550"/>
            <a:ext cx="19621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片数更接近接收量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407E6F-DECD-4053-928D-4A320A59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24250"/>
            <a:ext cx="19621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PIECES ≥ Buffer 后，MIN ABS(PIECES − Buffer)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8201E6-6FE6-4AC0-AE53-96AB365C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66950"/>
            <a:ext cx="23431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7A1010-FC22-4BD8-B136-10FE5526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5745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895F15-BEF2-45DA-977E-9AD1CBDA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76550"/>
            <a:ext cx="19621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RTD 排名更优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03EC15-8681-41C2-91A3-5E6D8AC6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524250"/>
            <a:ext cx="19621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MIN(RTDRank)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D8E839-20BB-49D4-BF94-A6673376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9650"/>
            <a:ext cx="113919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CC4764-D0EF-44BE-97FD-5C7C4526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Priority 优先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FAE0C2-5745-46BB-A1EA-A8FA8A40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3429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5571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T_BUFFER_Pri &gt; 0 时，本轮只保留 Priority Lot。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93E223-3E61-429D-8C28-9B9D75C6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4825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片数分配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7550A3-970C-4A30-B42C-FA479CEE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048250"/>
            <a:ext cx="3695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选中 Lot 的全部片数只分配给当前低 Loading STN，其他 STN 置 0。</a:t>
            </a:r>
          </a:p>
        </p:txBody>
      </p:sp>
    </p:spTree>
    <p:extLst>
      <p:ext uri="{BB962C8B-B14F-4D97-AF65-F5344CB8AC3E}">
        <p14:creationId xmlns:p14="http://schemas.microsoft.com/office/powerpoint/2010/main" val="7839472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E888FA-6062-4549-95F6-5799378E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STNLoadingBalance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6046EA-1625-49B9-BDB8-D8BED9AB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104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示例输入：5 个 Lot 如何进入第一轮排序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59BA71-39AB-4238-B486-06985F94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084260-449A-4631-88EB-0C849E30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53A68B-4992-4A53-A177-B7D1EEC5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4762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5 个 Candidate Lot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A63E36-60CB-487E-B06A-CB69BBE1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7350"/>
            <a:ext cx="55054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本轮排序条件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51D2EC-7E5C-4682-980D-61FCA3F9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6697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58C528-D73C-431D-B595-144AAEB3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466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L101｜12 h｜Priority｜1 STN｜25 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09BFBD-B903-4B14-B713-F1051FAC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7657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A92FEE-168B-44B3-A0CD-371DA6B9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466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L102｜12 h｜Priority｜1 STN｜20 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096712-2E9E-4A66-AAFF-F418BB29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8617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4F8D74-50B6-45E9-B112-AF3E0D8C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05200"/>
            <a:ext cx="466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L103｜6 h｜Priority｜1 STN｜20 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B2B1A6-0520-44BA-BD0E-849C08FA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9577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621CF7-B7A3-4FFA-A3DC-DE38E1EC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466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L104｜12 h｜Normal｜1 STN｜30 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B144B4-71C5-4DA0-AE09-5AF62C6E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0537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8E3FC9-9B57-4B53-8859-7508F7DC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466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L105｜12 h｜Priority｜IsCandidateChecked=F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EDAC4B-67AC-4078-A1EF-3AE165D2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24100"/>
            <a:ext cx="55054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EB81E4-A62A-404E-AD64-29B0B401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33650"/>
            <a:ext cx="495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1  基础过滤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548183-D088-43DF-886A-DD4563FA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86100"/>
            <a:ext cx="38100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4DF202-6420-4A29-A814-77DB24F1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90900"/>
            <a:ext cx="55054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E46E0F-C82F-4092-9693-EC022B05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00450"/>
            <a:ext cx="495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2  Timeline gap / ReceiveSTNCnt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7EA2DE-913A-4A09-9FD4-82699ED8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52900"/>
            <a:ext cx="38100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A9DB47-53F7-4E79-8FB9-33775330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57700"/>
            <a:ext cx="55054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DA1971-90BE-40D2-A9D9-1A6E74D3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67250"/>
            <a:ext cx="495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3  PIECES 差值 / RTDRank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3249F2-FC47-481E-B588-80FA3FED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581650"/>
            <a:ext cx="5505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对象：ETCH_A / 12 h｜T_BUFFER_Pri=20｜T_BUFFER=50｜Priority 未补足</a:t>
            </a:r>
          </a:p>
        </p:txBody>
      </p:sp>
    </p:spTree>
    <p:extLst>
      <p:ext uri="{BB962C8B-B14F-4D97-AF65-F5344CB8AC3E}">
        <p14:creationId xmlns:p14="http://schemas.microsoft.com/office/powerpoint/2010/main" val="158374538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A4F443-BAE8-415F-BB90-0B8C1E8D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STNLoadingBalance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6768E4-274F-4005-9071-532407B7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104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示例第一轮：Priority 缺口 20 片，最终选择 L102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D24CF0-000D-4D00-90AE-A0AA102D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1DC4A8-EDB4-4023-9A2F-E8DB3017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53B488-DB2F-4DA0-A86A-47817239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0287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先过滤，再按 Timeline gap → ReceiveSTNCnt → PIECES 差值 → RTDRank 逐层比较。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2E5592-8D01-4B07-9EEB-B907D3FA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28950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2171CD-1C3F-41B8-96E8-80E8423C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028950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FE21D1-CF82-4A8C-AD12-8560ABE6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28950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2C21C3-6324-4315-A227-0A60A852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3431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E60BAC-0E41-47CE-A6BA-3E6D67AC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5745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3ED022-716E-4797-A8F6-44C09736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76550"/>
            <a:ext cx="19621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基础过滤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1C79B6-98D3-43E5-B846-8CD5E360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24250"/>
            <a:ext cx="19621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L104 为 Normal；L105 未通过检查，两者退出本轮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BE1B6E-27E9-4160-A93D-E502E7CC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266950"/>
            <a:ext cx="23431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C7570C-5978-438B-8398-C4122763E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5745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AAFD49-D68F-4B61-A5F0-5F1FE3EC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76550"/>
            <a:ext cx="19621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Timeline 更近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B5E389-0641-41F3-AEEC-D7FC6D88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524250"/>
            <a:ext cx="19621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L101 / L102 为 12 h；L103 为 6 h，后排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9EE484-4CB6-43B7-A80B-0FFC8714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66950"/>
            <a:ext cx="23431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D6E01C-4772-45D1-A2B6-04B0F374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5745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5181C9-5F00-429E-93B1-9D4BB75F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76550"/>
            <a:ext cx="19621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片数匹配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407E6F-DECD-4053-928D-4A320A59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24250"/>
            <a:ext cx="19621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L102 = 20 片，正好补齐 T_BUFFER_Pri = 20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8201E6-6FE6-4AC0-AE53-96AB365C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66950"/>
            <a:ext cx="23431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19050">
            <a:solidFill>
              <a:srgbClr val="E9713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7A1010-FC22-4BD8-B136-10FE5526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5745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895F15-BEF2-45DA-977E-9AD1CBDA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76550"/>
            <a:ext cx="19621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选中 L102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03EC15-8681-41C2-91A3-5E6D8AC6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524250"/>
            <a:ext cx="19621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前序条件已分胜负，本轮无需比较 RTDRank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D8E839-20BB-49D4-BF94-A6673376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9650"/>
            <a:ext cx="113919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CC4764-D0EF-44BE-97FD-5C7C4526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本轮结果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FAE0C2-5745-46BB-A1EA-A8FA8A40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3429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29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L102｜Priority｜12 h｜ReceiveSTNCnt=1｜20 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93E223-3E61-429D-8C28-9B9D75C6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4825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模拟更新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7550A3-970C-4A30-B42C-FA479CEE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048250"/>
            <a:ext cx="3695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T_BUFFER_Pri 20 → 0；T_BUFFER 50 → 30；下一轮允许 Normal Lot。</a:t>
            </a:r>
          </a:p>
        </p:txBody>
      </p:sp>
    </p:spTree>
    <p:extLst>
      <p:ext uri="{BB962C8B-B14F-4D97-AF65-F5344CB8AC3E}">
        <p14:creationId xmlns:p14="http://schemas.microsoft.com/office/powerpoint/2010/main" val="78394725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4C5A52-3FF2-44FC-9976-10CDB46D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STNLoadingBalance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5775C1-4EEC-4745-848F-99A774CF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104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3882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示例第二轮：Priority 补足后，Normal Lot L104 被选中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F9C0E7-9C56-4630-A07D-FF3F1D4C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C64129-F7E9-4FA2-88BC-7AF5D72E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ED7E6D-27FA-4711-8F62-A5F0769F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3429000" cy="3200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131CF5-0529-461D-BA89-4BB752C8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47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E67BBB-E0DC-4051-80A5-F5092C1D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47950"/>
            <a:ext cx="2933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候选池收缩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2B862D-3C86-47D9-B037-21B48884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29337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L104 / L106 / L107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63C61D-2F53-490E-883B-DD1F4E62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29337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L102 已选；本轮允许 Normal Lot 参与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06DD64-4054-404D-9361-CF81A54C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43100"/>
            <a:ext cx="3429000" cy="3200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19050">
            <a:solidFill>
              <a:srgbClr val="E9713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077AE5-3D02-4F22-9A4E-38F6D68E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71700"/>
            <a:ext cx="47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4253-8823-40CC-86AE-29169669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47950"/>
            <a:ext cx="2933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第二轮结果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B79A22-0B62-4A12-A423-05B8031D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57550"/>
            <a:ext cx="29337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L104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30 片 / gap=0 / 1 STN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2E39D3-8A80-4796-82AC-9662D281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71950"/>
            <a:ext cx="29337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最接近 T_BUFFER=30，优先于 L106、L107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61E058-FD4E-4432-AD05-C37739AB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43100"/>
            <a:ext cx="3429000" cy="3200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940A75-7F00-4696-8348-6824F80F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71700"/>
            <a:ext cx="47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6E6B71-5242-4852-8E05-8E0C9292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933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边界校验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85A5D1-8ED6-4E2E-B3CA-028D3719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57550"/>
            <a:ext cx="29337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0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IsCandidateChecked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TransferLotCountLimit / OQT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C5EE0F-88B1-4B25-B844-E2FEDDBC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71950"/>
            <a:ext cx="29337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通过后才能写入本轮 Transfer 结果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475D5C-A0AE-4603-9826-DCCC92DB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B457BB-4E05-4E92-91B2-13994633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113919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L102（Priority）→ 模拟更新 → Priority 缺口归零 → L104（Normal）→ 再次模拟更新</a:t>
            </a:r>
          </a:p>
        </p:txBody>
      </p:sp>
    </p:spTree>
    <p:extLst>
      <p:ext uri="{BB962C8B-B14F-4D97-AF65-F5344CB8AC3E}">
        <p14:creationId xmlns:p14="http://schemas.microsoft.com/office/powerpoint/2010/main" val="169274108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F8F38D-563C-4086-AB1D-A1791442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STNLoadingBalance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513AE8-0826-49A9-A303-C7676593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104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模拟计算通过后才更新 Loading，并继续下一轮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00ADB2-43FC-4642-9E23-DE2A7C52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093EC3-F201-4FB6-8602-28F4CB9A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82DAB5-2508-457E-9281-14DBC737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667000"/>
            <a:ext cx="3429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2142E0-E12B-4757-9B1C-BC9C2265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667000"/>
            <a:ext cx="3429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9738FA-6560-4764-92F5-CB629006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67000"/>
            <a:ext cx="3429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E6FDAE-DFBF-4445-9B71-872741A0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67000"/>
            <a:ext cx="3429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F601E8-C93A-4D2E-9A97-75035C2A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43300"/>
            <a:ext cx="266700" cy="3619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CC74EB-9234-4B1B-885D-7169C539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543300"/>
            <a:ext cx="266700" cy="3619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2DE588-66CE-48C7-89EF-1D69B7B7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1524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450E2A-4885-4558-A379-521F4EB8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1181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取排序第一的 Lot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F96E2B-B09F-4443-A179-0665791D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209800"/>
            <a:ext cx="1714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3821CF-D3FB-4D07-A504-026A815B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95550"/>
            <a:ext cx="1333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666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模拟 Transfer 后
相关 Loading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8AB3FA-9DD5-4F0D-A73C-D0442BFB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57400"/>
            <a:ext cx="2038350" cy="15049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83216D-812F-4537-890E-F0F1A57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11620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35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其他机台 Loading
仍满足要求？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F263AB-FBAD-4412-A89B-5FC83789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81250"/>
            <a:ext cx="266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06F18B-447B-45F1-8396-E9C6DF7A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09800"/>
            <a:ext cx="18478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6587E6-48FB-4951-AFBB-E9376264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14600"/>
            <a:ext cx="14668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386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更新 WIPLoading /
PriorWIPLoading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0D05D5-6BA8-47B0-A6A7-07A9152A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57400"/>
            <a:ext cx="2076450" cy="15049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D8B992-774B-4324-ADCC-679BFE04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57450"/>
            <a:ext cx="1123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35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当前 STN + Timeline
结束？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4031BC-6B4E-4F12-B5CE-5ED2E8AB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19550"/>
            <a:ext cx="20383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9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26A5D9-1C96-4D80-B4DB-F4141FC8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2910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516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否：检查下一 Candidate Lot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74F361-DF39-4F98-95FF-B07DB647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19550"/>
            <a:ext cx="18478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9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53B326-59EE-4C38-BF64-79BE2973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229100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89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否：继续当前层选 Lot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1EDDEF-0B05-4A9F-AB3C-6214B045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0764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9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1CC631-7C5F-45BB-8916-B6DF09A4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171950"/>
            <a:ext cx="1657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是：进入下一 STN + Timeline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9423AE-9995-45E3-B0AE-B437D243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124450"/>
            <a:ext cx="2381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780D54-BF12-4BAC-8227-ADFF4ED2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314950"/>
            <a:ext cx="1962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791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全部 STN + Timeline 完成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8F37B9-3201-44B7-9643-743CC6B2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314950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3BA1B7-3FF4-4963-A487-86A3421E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124450"/>
            <a:ext cx="20764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209FC9-94AF-4347-95AF-24E1DA72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314950"/>
            <a:ext cx="1657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OQT 风险检查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5EA676-946C-4265-9E0A-BC9026FB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314950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8AE251-AF0C-44AA-BB32-E9EB15D9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24450"/>
            <a:ext cx="2609850" cy="6286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F8A12F-405F-4EEE-861A-F8D4B081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314950"/>
            <a:ext cx="2190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输出 Transfer 结果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6031A8-2ADD-4A7F-96FE-A70730F7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24550"/>
            <a:ext cx="11391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结束条件：T_BUFFER_Pri ≤ 0，或 T_BUFFER ≤ 0，或 transfercnt 达到 TransferLotCountLimit。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AC7525-FE87-47F5-81B8-2E84A8AA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67450"/>
            <a:ext cx="1047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Loading 更新范围：被选 Lot 当前 Timeline 及之后的所有相关机台。</a:t>
            </a:r>
          </a:p>
        </p:txBody>
      </p:sp>
    </p:spTree>
    <p:extLst>
      <p:ext uri="{BB962C8B-B14F-4D97-AF65-F5344CB8AC3E}">
        <p14:creationId xmlns:p14="http://schemas.microsoft.com/office/powerpoint/2010/main" val="99439784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4C5A52-3FF2-44FC-9976-10CDB46D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STNLoadingBalance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5775C1-4EEC-4745-848F-99A774CF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104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009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STN 级 Loading 结果最终服务于可控的跨厂 Transfer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F9C0E7-9C56-4630-A07D-FF3F1D4C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C64129-F7E9-4FA2-88BC-7AF5D72E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ED7E6D-27FA-4711-8F62-A5F0769F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3429000" cy="3200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131CF5-0529-461D-BA89-4BB752C8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47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E67BBB-E0DC-4051-80A5-F5092C1D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47950"/>
            <a:ext cx="2933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Loading 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2B862D-3C86-47D9-B037-21B48884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29337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EqpLoadingSummarybyEqp
EqpLotSummarybyEqp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63C61D-2F53-490E-883B-DD1F4E62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29337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提供 STN + Timeline Loading 及 Lot 分配关系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06DD64-4054-404D-9361-CF81A54C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43100"/>
            <a:ext cx="3429000" cy="3200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077AE5-3D02-4F22-9A4E-38F6D68E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71700"/>
            <a:ext cx="47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4253-8823-40CC-86AE-29169669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47950"/>
            <a:ext cx="2933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Candidate Lot 结果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B79A22-0B62-4A12-A423-05B8031D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57550"/>
            <a:ext cx="29337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ReceiveLoading
T_BUFFER / T_BUFFER_Pri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2E39D3-8A80-4796-82AC-9662D281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71950"/>
            <a:ext cx="29337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决定从对厂选择哪些 Lot、选择多少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61E058-FD4E-4432-AD05-C37739AB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43100"/>
            <a:ext cx="3429000" cy="3200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940A75-7F00-4696-8348-6824F80F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71700"/>
            <a:ext cx="47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6E6B71-5242-4852-8E05-8E0C9292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933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风险与边界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85A5D1-8ED6-4E2E-B3CA-028D3719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57550"/>
            <a:ext cx="29337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TransferLotCountLimit
Loading 模拟计算 / OQT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C5EE0F-88B1-4B25-B844-E2FEDDBC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71950"/>
            <a:ext cx="29337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t>避免转出侧 Loading 过低，并控制转移数量与 OQT 风险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475D5C-A0AE-4603-9826-DCCC92DB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B457BB-4E05-4E92-91B2-13994633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113919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计算 Loading → 找到可接收机台 → 一次选一个 Lot → 模拟并更新 → 输出 Transfer 结果</a:t>
            </a:r>
          </a:p>
        </p:txBody>
      </p:sp>
    </p:spTree>
    <p:extLst>
      <p:ext uri="{BB962C8B-B14F-4D97-AF65-F5344CB8AC3E}">
        <p14:creationId xmlns:p14="http://schemas.microsoft.com/office/powerpoint/2010/main" val="16927410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2026-07-14T12:54:18.6290000Z</dcterms:created>
  <dcterms:modified xsi:type="dcterms:W3CDTF">2026-07-14T12:54:18.6290000Z</dcterms:modified>
</coreProperties>
</file>